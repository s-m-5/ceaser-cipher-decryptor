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56" r:id="rId2"/>
    <p:sldId id="257" r:id="rId3"/>
    <p:sldId id="258" r:id="rId4"/>
    <p:sldId id="262" r:id="rId5"/>
    <p:sldId id="261" r:id="rId6"/>
    <p:sldId id="26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6F7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16" d="100"/>
          <a:sy n="116" d="100"/>
        </p:scale>
        <p:origin x="653"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tableStyles" Target="tableStyle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theme" Target="theme/theme1.xml" /><Relationship Id="rId5" Type="http://schemas.openxmlformats.org/officeDocument/2006/relationships/slide" Target="slides/slide4.xml" /><Relationship Id="rId10"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presProps" Target="presProps.xml"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7197D7-E074-4320-9DFB-997410AC3AE4}"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US"/>
        </a:p>
      </dgm:t>
    </dgm:pt>
    <dgm:pt modelId="{C5992AD0-3EA9-4440-8FDF-FA271713D634}">
      <dgm:prSet phldrT="[Text]" phldr="0"/>
      <dgm:spPr/>
      <dgm:t>
        <a:bodyPr/>
        <a:lstStyle/>
        <a:p>
          <a:r>
            <a:rPr lang="en-US" dirty="0"/>
            <a:t>Get first 3 words of a line</a:t>
          </a:r>
        </a:p>
      </dgm:t>
    </dgm:pt>
    <dgm:pt modelId="{43267184-57C2-4880-BB41-EBDB5D349885}" type="parTrans" cxnId="{3C2CAB09-E6E1-48B1-81F0-DCC840D54B32}">
      <dgm:prSet/>
      <dgm:spPr/>
      <dgm:t>
        <a:bodyPr/>
        <a:lstStyle/>
        <a:p>
          <a:endParaRPr lang="en-US"/>
        </a:p>
      </dgm:t>
    </dgm:pt>
    <dgm:pt modelId="{C884F5A2-C7F2-4C27-ADC8-0A82EC56E9DF}" type="sibTrans" cxnId="{3C2CAB09-E6E1-48B1-81F0-DCC840D54B32}">
      <dgm:prSet/>
      <dgm:spPr/>
      <dgm:t>
        <a:bodyPr/>
        <a:lstStyle/>
        <a:p>
          <a:endParaRPr lang="en-US"/>
        </a:p>
      </dgm:t>
    </dgm:pt>
    <dgm:pt modelId="{274FA017-8DFD-4688-87B7-E19157080BA2}">
      <dgm:prSet phldrT="[Text]" phldr="0"/>
      <dgm:spPr/>
      <dgm:t>
        <a:bodyPr/>
        <a:lstStyle/>
        <a:p>
          <a:r>
            <a:rPr lang="en-US" dirty="0"/>
            <a:t>Keep shifting the letters until all 3 words are in the dictionary</a:t>
          </a:r>
        </a:p>
      </dgm:t>
    </dgm:pt>
    <dgm:pt modelId="{BD8DCF07-3580-4AB8-BA8B-2F1DB9502BEE}" type="parTrans" cxnId="{FAE41E1C-DAB8-4CA6-A4EB-BFADC5BC63E6}">
      <dgm:prSet/>
      <dgm:spPr/>
      <dgm:t>
        <a:bodyPr/>
        <a:lstStyle/>
        <a:p>
          <a:endParaRPr lang="en-US"/>
        </a:p>
      </dgm:t>
    </dgm:pt>
    <dgm:pt modelId="{A603D227-0B2A-48F4-B295-835D69744BEF}" type="sibTrans" cxnId="{FAE41E1C-DAB8-4CA6-A4EB-BFADC5BC63E6}">
      <dgm:prSet/>
      <dgm:spPr/>
      <dgm:t>
        <a:bodyPr/>
        <a:lstStyle/>
        <a:p>
          <a:endParaRPr lang="en-US"/>
        </a:p>
      </dgm:t>
    </dgm:pt>
    <dgm:pt modelId="{8C6AEDF3-9230-46A8-8E6A-4F27D4A7FB42}">
      <dgm:prSet phldrT="[Text]" phldr="0"/>
      <dgm:spPr/>
      <dgm:t>
        <a:bodyPr/>
        <a:lstStyle/>
        <a:p>
          <a:r>
            <a:rPr lang="en-US" dirty="0"/>
            <a:t>Create a file and display each decrypted line with their respective key</a:t>
          </a:r>
        </a:p>
      </dgm:t>
    </dgm:pt>
    <dgm:pt modelId="{DB02B5C1-7E91-49B5-ACF7-20F3F310D71E}" type="parTrans" cxnId="{7A598834-9CD0-4444-9270-3B28DF6C8FDE}">
      <dgm:prSet/>
      <dgm:spPr/>
      <dgm:t>
        <a:bodyPr/>
        <a:lstStyle/>
        <a:p>
          <a:endParaRPr lang="en-US"/>
        </a:p>
      </dgm:t>
    </dgm:pt>
    <dgm:pt modelId="{18DADC51-4B2B-49F4-9B75-30E287137A00}" type="sibTrans" cxnId="{7A598834-9CD0-4444-9270-3B28DF6C8FDE}">
      <dgm:prSet/>
      <dgm:spPr/>
      <dgm:t>
        <a:bodyPr/>
        <a:lstStyle/>
        <a:p>
          <a:endParaRPr lang="en-US"/>
        </a:p>
      </dgm:t>
    </dgm:pt>
    <dgm:pt modelId="{EF3343E7-0DFE-4132-8A8A-B7CC8A337A0A}">
      <dgm:prSet/>
      <dgm:spPr/>
      <dgm:t>
        <a:bodyPr/>
        <a:lstStyle/>
        <a:p>
          <a:r>
            <a:rPr lang="en-US" dirty="0"/>
            <a:t>Main method with the option to display a file or decrypt its contents</a:t>
          </a:r>
        </a:p>
      </dgm:t>
    </dgm:pt>
    <dgm:pt modelId="{9C08527E-95E5-4CAA-90F5-9405E7BDC314}" type="parTrans" cxnId="{7A126BF5-C9AA-451D-AA89-F1B1964166C8}">
      <dgm:prSet/>
      <dgm:spPr/>
      <dgm:t>
        <a:bodyPr/>
        <a:lstStyle/>
        <a:p>
          <a:endParaRPr lang="en-US"/>
        </a:p>
      </dgm:t>
    </dgm:pt>
    <dgm:pt modelId="{C794E62B-EC23-4E9B-AACF-9C824A3E3415}" type="sibTrans" cxnId="{7A126BF5-C9AA-451D-AA89-F1B1964166C8}">
      <dgm:prSet/>
      <dgm:spPr/>
      <dgm:t>
        <a:bodyPr/>
        <a:lstStyle/>
        <a:p>
          <a:endParaRPr lang="en-US"/>
        </a:p>
      </dgm:t>
    </dgm:pt>
    <dgm:pt modelId="{5FC99A6B-48C8-47F1-8DF7-879CE22D3698}" type="pres">
      <dgm:prSet presAssocID="{B07197D7-E074-4320-9DFB-997410AC3AE4}" presName="Name0" presStyleCnt="0">
        <dgm:presLayoutVars>
          <dgm:dir/>
          <dgm:animLvl val="lvl"/>
          <dgm:resizeHandles val="exact"/>
        </dgm:presLayoutVars>
      </dgm:prSet>
      <dgm:spPr/>
    </dgm:pt>
    <dgm:pt modelId="{6B4ACD92-B4CB-420C-9A38-A6081FF41BE8}" type="pres">
      <dgm:prSet presAssocID="{EF3343E7-0DFE-4132-8A8A-B7CC8A337A0A}" presName="boxAndChildren" presStyleCnt="0"/>
      <dgm:spPr/>
    </dgm:pt>
    <dgm:pt modelId="{63310BE8-D022-4155-A3FA-F7B5D34D5A77}" type="pres">
      <dgm:prSet presAssocID="{EF3343E7-0DFE-4132-8A8A-B7CC8A337A0A}" presName="parentTextBox" presStyleLbl="node1" presStyleIdx="0" presStyleCnt="4" custLinFactNeighborX="267" custLinFactNeighborY="753"/>
      <dgm:spPr/>
    </dgm:pt>
    <dgm:pt modelId="{98CA50C2-46CC-4BD3-A7D9-A83F47DE3916}" type="pres">
      <dgm:prSet presAssocID="{18DADC51-4B2B-49F4-9B75-30E287137A00}" presName="sp" presStyleCnt="0"/>
      <dgm:spPr/>
    </dgm:pt>
    <dgm:pt modelId="{1A11836F-C27F-4717-9034-AF65701E22E3}" type="pres">
      <dgm:prSet presAssocID="{8C6AEDF3-9230-46A8-8E6A-4F27D4A7FB42}" presName="arrowAndChildren" presStyleCnt="0"/>
      <dgm:spPr/>
    </dgm:pt>
    <dgm:pt modelId="{5C2101F5-DED8-449A-A564-04BCB5976D39}" type="pres">
      <dgm:prSet presAssocID="{8C6AEDF3-9230-46A8-8E6A-4F27D4A7FB42}" presName="parentTextArrow" presStyleLbl="node1" presStyleIdx="1" presStyleCnt="4"/>
      <dgm:spPr/>
    </dgm:pt>
    <dgm:pt modelId="{639F6A8D-25D8-4C36-B34F-586F2D75C5C6}" type="pres">
      <dgm:prSet presAssocID="{A603D227-0B2A-48F4-B295-835D69744BEF}" presName="sp" presStyleCnt="0"/>
      <dgm:spPr/>
    </dgm:pt>
    <dgm:pt modelId="{4D00A291-FAFE-4A0F-8BFE-E05982E49629}" type="pres">
      <dgm:prSet presAssocID="{274FA017-8DFD-4688-87B7-E19157080BA2}" presName="arrowAndChildren" presStyleCnt="0"/>
      <dgm:spPr/>
    </dgm:pt>
    <dgm:pt modelId="{D43537BA-9272-46AB-894B-EAD7B3D92989}" type="pres">
      <dgm:prSet presAssocID="{274FA017-8DFD-4688-87B7-E19157080BA2}" presName="parentTextArrow" presStyleLbl="node1" presStyleIdx="2" presStyleCnt="4"/>
      <dgm:spPr/>
    </dgm:pt>
    <dgm:pt modelId="{30AE0DCD-4A63-46B9-B5B9-D7350F11DD2C}" type="pres">
      <dgm:prSet presAssocID="{C884F5A2-C7F2-4C27-ADC8-0A82EC56E9DF}" presName="sp" presStyleCnt="0"/>
      <dgm:spPr/>
    </dgm:pt>
    <dgm:pt modelId="{DC77E348-E0B8-4489-94D7-9281DF93DB3E}" type="pres">
      <dgm:prSet presAssocID="{C5992AD0-3EA9-4440-8FDF-FA271713D634}" presName="arrowAndChildren" presStyleCnt="0"/>
      <dgm:spPr/>
    </dgm:pt>
    <dgm:pt modelId="{F010623E-96A4-43E2-A9F0-E859A595651F}" type="pres">
      <dgm:prSet presAssocID="{C5992AD0-3EA9-4440-8FDF-FA271713D634}" presName="parentTextArrow" presStyleLbl="node1" presStyleIdx="3" presStyleCnt="4" custLinFactNeighborX="-13353" custLinFactNeighborY="-62829"/>
      <dgm:spPr/>
    </dgm:pt>
  </dgm:ptLst>
  <dgm:cxnLst>
    <dgm:cxn modelId="{3C2CAB09-E6E1-48B1-81F0-DCC840D54B32}" srcId="{B07197D7-E074-4320-9DFB-997410AC3AE4}" destId="{C5992AD0-3EA9-4440-8FDF-FA271713D634}" srcOrd="0" destOrd="0" parTransId="{43267184-57C2-4880-BB41-EBDB5D349885}" sibTransId="{C884F5A2-C7F2-4C27-ADC8-0A82EC56E9DF}"/>
    <dgm:cxn modelId="{FAE41E1C-DAB8-4CA6-A4EB-BFADC5BC63E6}" srcId="{B07197D7-E074-4320-9DFB-997410AC3AE4}" destId="{274FA017-8DFD-4688-87B7-E19157080BA2}" srcOrd="1" destOrd="0" parTransId="{BD8DCF07-3580-4AB8-BA8B-2F1DB9502BEE}" sibTransId="{A603D227-0B2A-48F4-B295-835D69744BEF}"/>
    <dgm:cxn modelId="{7A598834-9CD0-4444-9270-3B28DF6C8FDE}" srcId="{B07197D7-E074-4320-9DFB-997410AC3AE4}" destId="{8C6AEDF3-9230-46A8-8E6A-4F27D4A7FB42}" srcOrd="2" destOrd="0" parTransId="{DB02B5C1-7E91-49B5-ACF7-20F3F310D71E}" sibTransId="{18DADC51-4B2B-49F4-9B75-30E287137A00}"/>
    <dgm:cxn modelId="{4BA3374B-0096-48B2-BD53-5C9D40287A45}" type="presOf" srcId="{274FA017-8DFD-4688-87B7-E19157080BA2}" destId="{D43537BA-9272-46AB-894B-EAD7B3D92989}" srcOrd="0" destOrd="0" presId="urn:microsoft.com/office/officeart/2005/8/layout/process4"/>
    <dgm:cxn modelId="{DFC45F8E-962F-460A-8727-BD51C4182ED4}" type="presOf" srcId="{B07197D7-E074-4320-9DFB-997410AC3AE4}" destId="{5FC99A6B-48C8-47F1-8DF7-879CE22D3698}" srcOrd="0" destOrd="0" presId="urn:microsoft.com/office/officeart/2005/8/layout/process4"/>
    <dgm:cxn modelId="{7FB33A98-2B26-4C92-93CA-F2FE24999DDD}" type="presOf" srcId="{C5992AD0-3EA9-4440-8FDF-FA271713D634}" destId="{F010623E-96A4-43E2-A9F0-E859A595651F}" srcOrd="0" destOrd="0" presId="urn:microsoft.com/office/officeart/2005/8/layout/process4"/>
    <dgm:cxn modelId="{EC1537BA-1CB7-42E6-9685-F8A25B78EEA1}" type="presOf" srcId="{EF3343E7-0DFE-4132-8A8A-B7CC8A337A0A}" destId="{63310BE8-D022-4155-A3FA-F7B5D34D5A77}" srcOrd="0" destOrd="0" presId="urn:microsoft.com/office/officeart/2005/8/layout/process4"/>
    <dgm:cxn modelId="{7A126BF5-C9AA-451D-AA89-F1B1964166C8}" srcId="{B07197D7-E074-4320-9DFB-997410AC3AE4}" destId="{EF3343E7-0DFE-4132-8A8A-B7CC8A337A0A}" srcOrd="3" destOrd="0" parTransId="{9C08527E-95E5-4CAA-90F5-9405E7BDC314}" sibTransId="{C794E62B-EC23-4E9B-AACF-9C824A3E3415}"/>
    <dgm:cxn modelId="{7E017AFF-C05A-4E2C-A615-BF0FE3EEFFA9}" type="presOf" srcId="{8C6AEDF3-9230-46A8-8E6A-4F27D4A7FB42}" destId="{5C2101F5-DED8-449A-A564-04BCB5976D39}" srcOrd="0" destOrd="0" presId="urn:microsoft.com/office/officeart/2005/8/layout/process4"/>
    <dgm:cxn modelId="{8B380676-C962-47E8-8222-FD2028B3E3FD}" type="presParOf" srcId="{5FC99A6B-48C8-47F1-8DF7-879CE22D3698}" destId="{6B4ACD92-B4CB-420C-9A38-A6081FF41BE8}" srcOrd="0" destOrd="0" presId="urn:microsoft.com/office/officeart/2005/8/layout/process4"/>
    <dgm:cxn modelId="{1743D12D-7B08-4CE9-8ACA-7C905B124119}" type="presParOf" srcId="{6B4ACD92-B4CB-420C-9A38-A6081FF41BE8}" destId="{63310BE8-D022-4155-A3FA-F7B5D34D5A77}" srcOrd="0" destOrd="0" presId="urn:microsoft.com/office/officeart/2005/8/layout/process4"/>
    <dgm:cxn modelId="{2CFDE6C7-955E-4030-9EAB-2805C52E87CD}" type="presParOf" srcId="{5FC99A6B-48C8-47F1-8DF7-879CE22D3698}" destId="{98CA50C2-46CC-4BD3-A7D9-A83F47DE3916}" srcOrd="1" destOrd="0" presId="urn:microsoft.com/office/officeart/2005/8/layout/process4"/>
    <dgm:cxn modelId="{5E809AC2-1DB1-4245-8ECC-513D6ACDCD98}" type="presParOf" srcId="{5FC99A6B-48C8-47F1-8DF7-879CE22D3698}" destId="{1A11836F-C27F-4717-9034-AF65701E22E3}" srcOrd="2" destOrd="0" presId="urn:microsoft.com/office/officeart/2005/8/layout/process4"/>
    <dgm:cxn modelId="{27D90D76-E8A4-4756-B93E-07D255D8B235}" type="presParOf" srcId="{1A11836F-C27F-4717-9034-AF65701E22E3}" destId="{5C2101F5-DED8-449A-A564-04BCB5976D39}" srcOrd="0" destOrd="0" presId="urn:microsoft.com/office/officeart/2005/8/layout/process4"/>
    <dgm:cxn modelId="{02625F97-A6B1-4BEE-BAFB-335F08AC0D2B}" type="presParOf" srcId="{5FC99A6B-48C8-47F1-8DF7-879CE22D3698}" destId="{639F6A8D-25D8-4C36-B34F-586F2D75C5C6}" srcOrd="3" destOrd="0" presId="urn:microsoft.com/office/officeart/2005/8/layout/process4"/>
    <dgm:cxn modelId="{8AB974AF-A96F-43E3-935D-B7240DE74905}" type="presParOf" srcId="{5FC99A6B-48C8-47F1-8DF7-879CE22D3698}" destId="{4D00A291-FAFE-4A0F-8BFE-E05982E49629}" srcOrd="4" destOrd="0" presId="urn:microsoft.com/office/officeart/2005/8/layout/process4"/>
    <dgm:cxn modelId="{3420DED7-3B6E-4034-8B5B-14DD9EAF49C9}" type="presParOf" srcId="{4D00A291-FAFE-4A0F-8BFE-E05982E49629}" destId="{D43537BA-9272-46AB-894B-EAD7B3D92989}" srcOrd="0" destOrd="0" presId="urn:microsoft.com/office/officeart/2005/8/layout/process4"/>
    <dgm:cxn modelId="{E29759A4-0DE1-4827-9533-C5DCD73E96EB}" type="presParOf" srcId="{5FC99A6B-48C8-47F1-8DF7-879CE22D3698}" destId="{30AE0DCD-4A63-46B9-B5B9-D7350F11DD2C}" srcOrd="5" destOrd="0" presId="urn:microsoft.com/office/officeart/2005/8/layout/process4"/>
    <dgm:cxn modelId="{AD89E607-6DCE-4E07-97DD-B2F0D7C93A6B}" type="presParOf" srcId="{5FC99A6B-48C8-47F1-8DF7-879CE22D3698}" destId="{DC77E348-E0B8-4489-94D7-9281DF93DB3E}" srcOrd="6" destOrd="0" presId="urn:microsoft.com/office/officeart/2005/8/layout/process4"/>
    <dgm:cxn modelId="{69F82F38-1A3A-49B8-A103-61EEF5FB7C37}" type="presParOf" srcId="{DC77E348-E0B8-4489-94D7-9281DF93DB3E}" destId="{F010623E-96A4-43E2-A9F0-E859A595651F}"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310BE8-D022-4155-A3FA-F7B5D34D5A77}">
      <dsp:nvSpPr>
        <dsp:cNvPr id="0" name=""/>
        <dsp:cNvSpPr/>
      </dsp:nvSpPr>
      <dsp:spPr>
        <a:xfrm>
          <a:off x="0" y="3997075"/>
          <a:ext cx="7389881" cy="874100"/>
        </a:xfrm>
        <a:prstGeom prst="rec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t>Main method with the option to display a file or decrypt its contents</a:t>
          </a:r>
        </a:p>
      </dsp:txBody>
      <dsp:txXfrm>
        <a:off x="0" y="3997075"/>
        <a:ext cx="7389881" cy="874100"/>
      </dsp:txXfrm>
    </dsp:sp>
    <dsp:sp modelId="{5C2101F5-DED8-449A-A564-04BCB5976D39}">
      <dsp:nvSpPr>
        <dsp:cNvPr id="0" name=""/>
        <dsp:cNvSpPr/>
      </dsp:nvSpPr>
      <dsp:spPr>
        <a:xfrm rot="10800000">
          <a:off x="0" y="2664165"/>
          <a:ext cx="7389881" cy="1344366"/>
        </a:xfrm>
        <a:prstGeom prst="upArrowCallou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t>Create a file and display each decrypted line with their respective key</a:t>
          </a:r>
        </a:p>
      </dsp:txBody>
      <dsp:txXfrm rot="10800000">
        <a:off x="0" y="2664165"/>
        <a:ext cx="7389881" cy="873529"/>
      </dsp:txXfrm>
    </dsp:sp>
    <dsp:sp modelId="{D43537BA-9272-46AB-894B-EAD7B3D92989}">
      <dsp:nvSpPr>
        <dsp:cNvPr id="0" name=""/>
        <dsp:cNvSpPr/>
      </dsp:nvSpPr>
      <dsp:spPr>
        <a:xfrm rot="10800000">
          <a:off x="0" y="1332910"/>
          <a:ext cx="7389881" cy="1344366"/>
        </a:xfrm>
        <a:prstGeom prst="upArrowCallou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t>Keep shifting the letters until all 3 words are in the dictionary</a:t>
          </a:r>
        </a:p>
      </dsp:txBody>
      <dsp:txXfrm rot="10800000">
        <a:off x="0" y="1332910"/>
        <a:ext cx="7389881" cy="873529"/>
      </dsp:txXfrm>
    </dsp:sp>
    <dsp:sp modelId="{F010623E-96A4-43E2-A9F0-E859A595651F}">
      <dsp:nvSpPr>
        <dsp:cNvPr id="0" name=""/>
        <dsp:cNvSpPr/>
      </dsp:nvSpPr>
      <dsp:spPr>
        <a:xfrm rot="10800000">
          <a:off x="0" y="0"/>
          <a:ext cx="7389881" cy="1344366"/>
        </a:xfrm>
        <a:prstGeom prst="upArrowCallout">
          <a:avLst/>
        </a:prstGeom>
        <a:solidFill>
          <a:schemeClr val="accent1">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t>Get first 3 words of a line</a:t>
          </a:r>
        </a:p>
      </dsp:txBody>
      <dsp:txXfrm rot="10800000">
        <a:off x="0" y="0"/>
        <a:ext cx="7389881" cy="873529"/>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B8CC18-10C8-4C8D-B812-72131EABF208}" type="datetimeFigureOut">
              <a:rPr lang="en-US" smtClean="0"/>
              <a:t>11/22/2025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AB3FCC-CDDD-4983-8339-0FF8EAC55F7F}" type="slidenum">
              <a:rPr lang="en-US" smtClean="0"/>
              <a:t>‹#›</a:t>
            </a:fld>
            <a:endParaRPr lang="en-US"/>
          </a:p>
        </p:txBody>
      </p:sp>
    </p:spTree>
    <p:extLst>
      <p:ext uri="{BB962C8B-B14F-4D97-AF65-F5344CB8AC3E}">
        <p14:creationId xmlns:p14="http://schemas.microsoft.com/office/powerpoint/2010/main" val="2177105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AB3FCC-CDDD-4983-8339-0FF8EAC55F7F}" type="slidenum">
              <a:rPr lang="en-US" smtClean="0"/>
              <a:t>4</a:t>
            </a:fld>
            <a:endParaRPr lang="en-US"/>
          </a:p>
        </p:txBody>
      </p:sp>
    </p:spTree>
    <p:extLst>
      <p:ext uri="{BB962C8B-B14F-4D97-AF65-F5344CB8AC3E}">
        <p14:creationId xmlns:p14="http://schemas.microsoft.com/office/powerpoint/2010/main" val="1088830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50AD57A7-F6CF-44C1-A460-C93C9FB11D96}" type="datetimeFigureOut">
              <a:rPr lang="en-US" smtClean="0"/>
              <a:t>11/22/2025</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774C0B11-6642-467B-ACB4-CA4C9A0F62DB}"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0860351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AD57A7-F6CF-44C1-A460-C93C9FB11D96}"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4C0B11-6642-467B-ACB4-CA4C9A0F62DB}" type="slidenum">
              <a:rPr lang="en-US" smtClean="0"/>
              <a:t>‹#›</a:t>
            </a:fld>
            <a:endParaRPr lang="en-US"/>
          </a:p>
        </p:txBody>
      </p:sp>
    </p:spTree>
    <p:extLst>
      <p:ext uri="{BB962C8B-B14F-4D97-AF65-F5344CB8AC3E}">
        <p14:creationId xmlns:p14="http://schemas.microsoft.com/office/powerpoint/2010/main" val="2984563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AD57A7-F6CF-44C1-A460-C93C9FB11D96}"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4C0B11-6642-467B-ACB4-CA4C9A0F62DB}"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167830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0AD57A7-F6CF-44C1-A460-C93C9FB11D96}"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4C0B11-6642-467B-ACB4-CA4C9A0F62DB}" type="slidenum">
              <a:rPr lang="en-US" smtClean="0"/>
              <a:t>‹#›</a:t>
            </a:fld>
            <a:endParaRPr lang="en-US"/>
          </a:p>
        </p:txBody>
      </p:sp>
    </p:spTree>
    <p:extLst>
      <p:ext uri="{BB962C8B-B14F-4D97-AF65-F5344CB8AC3E}">
        <p14:creationId xmlns:p14="http://schemas.microsoft.com/office/powerpoint/2010/main" val="468931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0AD57A7-F6CF-44C1-A460-C93C9FB11D96}" type="datetimeFigureOut">
              <a:rPr lang="en-US" smtClean="0"/>
              <a:t>11/22/2025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74C0B11-6642-467B-ACB4-CA4C9A0F62DB}" type="slidenum">
              <a:rPr lang="en-US" smtClean="0"/>
              <a:t>‹#›</a:t>
            </a:fld>
            <a:endParaRPr lang="en-US"/>
          </a:p>
        </p:txBody>
      </p:sp>
    </p:spTree>
    <p:extLst>
      <p:ext uri="{BB962C8B-B14F-4D97-AF65-F5344CB8AC3E}">
        <p14:creationId xmlns:p14="http://schemas.microsoft.com/office/powerpoint/2010/main" val="4104108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0AD57A7-F6CF-44C1-A460-C93C9FB11D96}" type="datetimeFigureOut">
              <a:rPr lang="en-US" smtClean="0"/>
              <a:t>11/22/2025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74C0B11-6642-467B-ACB4-CA4C9A0F62DB}" type="slidenum">
              <a:rPr lang="en-US" smtClean="0"/>
              <a:t>‹#›</a:t>
            </a:fld>
            <a:endParaRPr lang="en-US"/>
          </a:p>
        </p:txBody>
      </p:sp>
    </p:spTree>
    <p:extLst>
      <p:ext uri="{BB962C8B-B14F-4D97-AF65-F5344CB8AC3E}">
        <p14:creationId xmlns:p14="http://schemas.microsoft.com/office/powerpoint/2010/main" val="11261931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AD57A7-F6CF-44C1-A460-C93C9FB11D96}" type="datetimeFigureOut">
              <a:rPr lang="en-US" smtClean="0"/>
              <a:t>11/22/2025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74C0B11-6642-467B-ACB4-CA4C9A0F62DB}" type="slidenum">
              <a:rPr lang="en-US" smtClean="0"/>
              <a:t>‹#›</a:t>
            </a:fld>
            <a:endParaRPr lang="en-US"/>
          </a:p>
        </p:txBody>
      </p:sp>
    </p:spTree>
    <p:extLst>
      <p:ext uri="{BB962C8B-B14F-4D97-AF65-F5344CB8AC3E}">
        <p14:creationId xmlns:p14="http://schemas.microsoft.com/office/powerpoint/2010/main" val="906284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AD57A7-F6CF-44C1-A460-C93C9FB11D96}"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4C0B11-6642-467B-ACB4-CA4C9A0F62DB}" type="slidenum">
              <a:rPr lang="en-US" smtClean="0"/>
              <a:t>‹#›</a:t>
            </a:fld>
            <a:endParaRPr lang="en-US"/>
          </a:p>
        </p:txBody>
      </p:sp>
    </p:spTree>
    <p:extLst>
      <p:ext uri="{BB962C8B-B14F-4D97-AF65-F5344CB8AC3E}">
        <p14:creationId xmlns:p14="http://schemas.microsoft.com/office/powerpoint/2010/main" val="3394813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AD57A7-F6CF-44C1-A460-C93C9FB11D96}"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4C0B11-6642-467B-ACB4-CA4C9A0F62DB}" type="slidenum">
              <a:rPr lang="en-US" smtClean="0"/>
              <a:t>‹#›</a:t>
            </a:fld>
            <a:endParaRPr lang="en-US"/>
          </a:p>
        </p:txBody>
      </p:sp>
    </p:spTree>
    <p:extLst>
      <p:ext uri="{BB962C8B-B14F-4D97-AF65-F5344CB8AC3E}">
        <p14:creationId xmlns:p14="http://schemas.microsoft.com/office/powerpoint/2010/main" val="20063417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AD57A7-F6CF-44C1-A460-C93C9FB11D96}"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4C0B11-6642-467B-ACB4-CA4C9A0F62DB}" type="slidenum">
              <a:rPr lang="en-US" smtClean="0"/>
              <a:t>‹#›</a:t>
            </a:fld>
            <a:endParaRPr lang="en-US"/>
          </a:p>
        </p:txBody>
      </p:sp>
    </p:spTree>
    <p:extLst>
      <p:ext uri="{BB962C8B-B14F-4D97-AF65-F5344CB8AC3E}">
        <p14:creationId xmlns:p14="http://schemas.microsoft.com/office/powerpoint/2010/main" val="2163414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AD57A7-F6CF-44C1-A460-C93C9FB11D96}"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4C0B11-6642-467B-ACB4-CA4C9A0F62DB}" type="slidenum">
              <a:rPr lang="en-US" smtClean="0"/>
              <a:t>‹#›</a:t>
            </a:fld>
            <a:endParaRPr lang="en-US"/>
          </a:p>
        </p:txBody>
      </p:sp>
    </p:spTree>
    <p:extLst>
      <p:ext uri="{BB962C8B-B14F-4D97-AF65-F5344CB8AC3E}">
        <p14:creationId xmlns:p14="http://schemas.microsoft.com/office/powerpoint/2010/main" val="4067597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50AD57A7-F6CF-44C1-A460-C93C9FB11D96}" type="datetimeFigureOut">
              <a:rPr lang="en-US" smtClean="0"/>
              <a:t>11/22/2025</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774C0B11-6642-467B-ACB4-CA4C9A0F62DB}" type="slidenum">
              <a:rPr lang="en-US" smtClean="0"/>
              <a:t>‹#›</a:t>
            </a:fld>
            <a:endParaRPr lang="en-US"/>
          </a:p>
        </p:txBody>
      </p:sp>
    </p:spTree>
    <p:extLst>
      <p:ext uri="{BB962C8B-B14F-4D97-AF65-F5344CB8AC3E}">
        <p14:creationId xmlns:p14="http://schemas.microsoft.com/office/powerpoint/2010/main" val="31790286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2.sv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 /><Relationship Id="rId7" Type="http://schemas.microsoft.com/office/2007/relationships/diagramDrawing" Target="../diagrams/drawing1.xml" /><Relationship Id="rId2" Type="http://schemas.openxmlformats.org/officeDocument/2006/relationships/notesSlide" Target="../notesSlides/notesSlide1.xml" /><Relationship Id="rId1" Type="http://schemas.openxmlformats.org/officeDocument/2006/relationships/slideLayout" Target="../slideLayouts/slideLayout2.xml" /><Relationship Id="rId6" Type="http://schemas.openxmlformats.org/officeDocument/2006/relationships/diagramColors" Target="../diagrams/colors1.xml" /><Relationship Id="rId5" Type="http://schemas.openxmlformats.org/officeDocument/2006/relationships/diagramQuickStyle" Target="../diagrams/quickStyle1.xml" /><Relationship Id="rId4" Type="http://schemas.openxmlformats.org/officeDocument/2006/relationships/diagramLayout" Target="../diagrams/layout1.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37D05-131D-8832-D181-1C0BBA5C2C59}"/>
              </a:ext>
            </a:extLst>
          </p:cNvPr>
          <p:cNvSpPr>
            <a:spLocks noGrp="1"/>
          </p:cNvSpPr>
          <p:nvPr>
            <p:ph type="ctrTitle"/>
          </p:nvPr>
        </p:nvSpPr>
        <p:spPr/>
        <p:txBody>
          <a:bodyPr/>
          <a:lstStyle/>
          <a:p>
            <a:r>
              <a:rPr lang="en-US" dirty="0"/>
              <a:t>Caeser Cipher</a:t>
            </a:r>
            <a:br>
              <a:rPr lang="en-US" dirty="0"/>
            </a:br>
            <a:r>
              <a:rPr lang="en-US" sz="2800" dirty="0"/>
              <a:t>CS 285</a:t>
            </a:r>
            <a:endParaRPr lang="en-US" dirty="0"/>
          </a:p>
        </p:txBody>
      </p:sp>
      <p:sp>
        <p:nvSpPr>
          <p:cNvPr id="3" name="Subtitle 2">
            <a:extLst>
              <a:ext uri="{FF2B5EF4-FFF2-40B4-BE49-F238E27FC236}">
                <a16:creationId xmlns:a16="http://schemas.microsoft.com/office/drawing/2014/main" id="{5B825FEE-1EC6-9D16-D320-306EBAEE4FAC}"/>
              </a:ext>
            </a:extLst>
          </p:cNvPr>
          <p:cNvSpPr>
            <a:spLocks noGrp="1"/>
          </p:cNvSpPr>
          <p:nvPr>
            <p:ph type="subTitle" idx="1"/>
          </p:nvPr>
        </p:nvSpPr>
        <p:spPr/>
        <p:txBody>
          <a:bodyPr/>
          <a:lstStyle/>
          <a:p>
            <a:pPr algn="l"/>
            <a:r>
              <a:rPr lang="en-US" dirty="0"/>
              <a:t>Student 1: Sulieman AlMahmoud     Student 2: Yazan Zahid</a:t>
            </a:r>
          </a:p>
          <a:p>
            <a:pPr algn="l"/>
            <a:r>
              <a:rPr lang="en-US" dirty="0"/>
              <a:t>Student 1 ID: 223110263                   Student 2 ID: 223110695</a:t>
            </a:r>
          </a:p>
        </p:txBody>
      </p:sp>
    </p:spTree>
    <p:extLst>
      <p:ext uri="{BB962C8B-B14F-4D97-AF65-F5344CB8AC3E}">
        <p14:creationId xmlns:p14="http://schemas.microsoft.com/office/powerpoint/2010/main" val="3523064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BF01B-7233-A54A-9EB0-8DE103BDF09F}"/>
              </a:ext>
            </a:extLst>
          </p:cNvPr>
          <p:cNvSpPr>
            <a:spLocks noGrp="1"/>
          </p:cNvSpPr>
          <p:nvPr>
            <p:ph type="title"/>
          </p:nvPr>
        </p:nvSpPr>
        <p:spPr>
          <a:xfrm>
            <a:off x="1261872" y="365760"/>
            <a:ext cx="9692640" cy="1325562"/>
          </a:xfrm>
        </p:spPr>
        <p:txBody>
          <a:bodyPr>
            <a:normAutofit/>
          </a:bodyPr>
          <a:lstStyle/>
          <a:p>
            <a:r>
              <a:rPr lang="en-US" dirty="0"/>
              <a:t>What is a Caeser Cipher?</a:t>
            </a:r>
          </a:p>
        </p:txBody>
      </p:sp>
      <p:sp>
        <p:nvSpPr>
          <p:cNvPr id="3" name="Content Placeholder 2">
            <a:extLst>
              <a:ext uri="{FF2B5EF4-FFF2-40B4-BE49-F238E27FC236}">
                <a16:creationId xmlns:a16="http://schemas.microsoft.com/office/drawing/2014/main" id="{850AE03D-CD8E-54FE-B1CB-1D0D647175E1}"/>
              </a:ext>
            </a:extLst>
          </p:cNvPr>
          <p:cNvSpPr>
            <a:spLocks noGrp="1"/>
          </p:cNvSpPr>
          <p:nvPr>
            <p:ph idx="1"/>
          </p:nvPr>
        </p:nvSpPr>
        <p:spPr>
          <a:xfrm>
            <a:off x="1261872" y="1933575"/>
            <a:ext cx="4401509" cy="4246562"/>
          </a:xfrm>
        </p:spPr>
        <p:txBody>
          <a:bodyPr>
            <a:normAutofit/>
          </a:bodyPr>
          <a:lstStyle/>
          <a:p>
            <a:r>
              <a:rPr lang="en-US" dirty="0"/>
              <a:t>A </a:t>
            </a:r>
            <a:r>
              <a:rPr lang="en-US" b="1" dirty="0"/>
              <a:t>Caesar cipher</a:t>
            </a:r>
            <a:r>
              <a:rPr lang="en-US" dirty="0"/>
              <a:t> shifts each letter in a message by a fixed number of positions in the alphabet.</a:t>
            </a:r>
          </a:p>
          <a:p>
            <a:r>
              <a:rPr lang="en-US" b="1" dirty="0"/>
              <a:t>Encryption:</a:t>
            </a:r>
            <a:r>
              <a:rPr lang="en-US" dirty="0"/>
              <a:t> Convert each letter to its alphabet index, shift it forward or backward by the key, then convert it back to a letter.</a:t>
            </a:r>
          </a:p>
          <a:p>
            <a:r>
              <a:rPr lang="en-US" b="1" dirty="0"/>
              <a:t>Decryption:</a:t>
            </a:r>
            <a:r>
              <a:rPr lang="en-US" dirty="0"/>
              <a:t> Reverse the shift using the same key to recover the original text.</a:t>
            </a:r>
          </a:p>
          <a:p>
            <a:r>
              <a:rPr lang="en-US" dirty="0"/>
              <a:t>The cipher uses a </a:t>
            </a:r>
            <a:r>
              <a:rPr lang="en-US" b="1" dirty="0"/>
              <a:t>private key</a:t>
            </a:r>
            <a:r>
              <a:rPr lang="en-US" dirty="0"/>
              <a:t> (the shift value), which both sender and receiver must know.</a:t>
            </a:r>
          </a:p>
        </p:txBody>
      </p:sp>
      <p:pic>
        <p:nvPicPr>
          <p:cNvPr id="16" name="Graphic 15" descr="Key">
            <a:extLst>
              <a:ext uri="{FF2B5EF4-FFF2-40B4-BE49-F238E27FC236}">
                <a16:creationId xmlns:a16="http://schemas.microsoft.com/office/drawing/2014/main" id="{4F709158-FAC9-0879-753B-B9BFF6BBD8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79706" y="1933575"/>
            <a:ext cx="3639872" cy="3639872"/>
          </a:xfrm>
          <a:prstGeom prst="rect">
            <a:avLst/>
          </a:prstGeom>
        </p:spPr>
      </p:pic>
    </p:spTree>
    <p:extLst>
      <p:ext uri="{BB962C8B-B14F-4D97-AF65-F5344CB8AC3E}">
        <p14:creationId xmlns:p14="http://schemas.microsoft.com/office/powerpoint/2010/main" val="3344703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801627-6861-4EA9-BE98-E0CE33A894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43466" cy="6858000"/>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3C1483F-490E-4C8A-8765-1F8AF0C67D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0"/>
            <a:ext cx="3736189" cy="6858000"/>
          </a:xfrm>
          <a:prstGeom prst="rect">
            <a:avLst/>
          </a:prstGeom>
          <a:solidFill>
            <a:srgbClr val="29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CC1B2E-77CB-5373-6F8E-6BE1B3828300}"/>
              </a:ext>
            </a:extLst>
          </p:cNvPr>
          <p:cNvSpPr>
            <a:spLocks noGrp="1"/>
          </p:cNvSpPr>
          <p:nvPr>
            <p:ph type="title"/>
          </p:nvPr>
        </p:nvSpPr>
        <p:spPr>
          <a:xfrm>
            <a:off x="965198" y="643466"/>
            <a:ext cx="3092718" cy="5528734"/>
          </a:xfrm>
          <a:noFill/>
        </p:spPr>
        <p:txBody>
          <a:bodyPr anchor="t">
            <a:normAutofit/>
          </a:bodyPr>
          <a:lstStyle/>
          <a:p>
            <a:r>
              <a:rPr lang="en-US" sz="2800" dirty="0">
                <a:solidFill>
                  <a:srgbClr val="FFFFFF"/>
                </a:solidFill>
              </a:rPr>
              <a:t>Decryption Method used</a:t>
            </a:r>
          </a:p>
        </p:txBody>
      </p:sp>
      <p:sp useBgFill="1">
        <p:nvSpPr>
          <p:cNvPr id="12" name="Rectangle 11">
            <a:extLst>
              <a:ext uri="{FF2B5EF4-FFF2-40B4-BE49-F238E27FC236}">
                <a16:creationId xmlns:a16="http://schemas.microsoft.com/office/drawing/2014/main" id="{0249BF42-D05C-4553-9417-7B8695759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9654" y="0"/>
            <a:ext cx="691318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9B5AE4C-9D16-24C7-B58E-E6B74958BA36}"/>
              </a:ext>
            </a:extLst>
          </p:cNvPr>
          <p:cNvSpPr>
            <a:spLocks noGrp="1"/>
          </p:cNvSpPr>
          <p:nvPr>
            <p:ph idx="1"/>
          </p:nvPr>
        </p:nvSpPr>
        <p:spPr>
          <a:xfrm>
            <a:off x="4815320" y="437841"/>
            <a:ext cx="5827472" cy="5571067"/>
          </a:xfrm>
        </p:spPr>
        <p:txBody>
          <a:bodyPr>
            <a:normAutofit/>
          </a:bodyPr>
          <a:lstStyle/>
          <a:p>
            <a:pPr marL="0" indent="0">
              <a:buNone/>
            </a:pPr>
            <a:r>
              <a:rPr lang="en-US" sz="2000" dirty="0"/>
              <a:t>Since the key is unknown, the program must discover it. It loads several English dictionaries, then takes the first three words of the text and converts their letters to alphabet indexes. It shifts these indexes one step at a time, checking after each shift whether all three words appear in the dictionary. When they do, the program has found the correct key.</a:t>
            </a:r>
          </a:p>
        </p:txBody>
      </p:sp>
      <p:sp>
        <p:nvSpPr>
          <p:cNvPr id="5" name="TextBox 4">
            <a:extLst>
              <a:ext uri="{FF2B5EF4-FFF2-40B4-BE49-F238E27FC236}">
                <a16:creationId xmlns:a16="http://schemas.microsoft.com/office/drawing/2014/main" id="{C885ABF4-1612-6EB9-BD06-1A5AFCEED70A}"/>
              </a:ext>
            </a:extLst>
          </p:cNvPr>
          <p:cNvSpPr txBox="1"/>
          <p:nvPr/>
        </p:nvSpPr>
        <p:spPr>
          <a:xfrm>
            <a:off x="6096000" y="3386330"/>
            <a:ext cx="772969" cy="369332"/>
          </a:xfrm>
          <a:prstGeom prst="rect">
            <a:avLst/>
          </a:prstGeom>
          <a:noFill/>
        </p:spPr>
        <p:txBody>
          <a:bodyPr wrap="none" rtlCol="0">
            <a:spAutoFit/>
          </a:bodyPr>
          <a:lstStyle/>
          <a:p>
            <a:r>
              <a:rPr lang="en-US" dirty="0"/>
              <a:t>jlhzly</a:t>
            </a:r>
          </a:p>
        </p:txBody>
      </p:sp>
      <p:sp>
        <p:nvSpPr>
          <p:cNvPr id="6" name="Arrow: Right 5">
            <a:extLst>
              <a:ext uri="{FF2B5EF4-FFF2-40B4-BE49-F238E27FC236}">
                <a16:creationId xmlns:a16="http://schemas.microsoft.com/office/drawing/2014/main" id="{C61272BF-1BA0-AE4D-831F-1AEAC3C809F9}"/>
              </a:ext>
            </a:extLst>
          </p:cNvPr>
          <p:cNvSpPr/>
          <p:nvPr/>
        </p:nvSpPr>
        <p:spPr>
          <a:xfrm>
            <a:off x="7246467" y="3328680"/>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1A50A54-FA63-B38F-865C-CCC8C01381F8}"/>
              </a:ext>
            </a:extLst>
          </p:cNvPr>
          <p:cNvSpPr txBox="1"/>
          <p:nvPr/>
        </p:nvSpPr>
        <p:spPr>
          <a:xfrm>
            <a:off x="8602373" y="3386330"/>
            <a:ext cx="856325" cy="369332"/>
          </a:xfrm>
          <a:prstGeom prst="rect">
            <a:avLst/>
          </a:prstGeom>
          <a:noFill/>
        </p:spPr>
        <p:txBody>
          <a:bodyPr wrap="none" rtlCol="0">
            <a:spAutoFit/>
          </a:bodyPr>
          <a:lstStyle/>
          <a:p>
            <a:r>
              <a:rPr lang="en-US" dirty="0"/>
              <a:t>ceaser</a:t>
            </a:r>
          </a:p>
        </p:txBody>
      </p:sp>
      <p:sp>
        <p:nvSpPr>
          <p:cNvPr id="9" name="TextBox 8">
            <a:extLst>
              <a:ext uri="{FF2B5EF4-FFF2-40B4-BE49-F238E27FC236}">
                <a16:creationId xmlns:a16="http://schemas.microsoft.com/office/drawing/2014/main" id="{6CD19EEB-6EA5-EC3A-E10A-2F3D64C9796B}"/>
              </a:ext>
            </a:extLst>
          </p:cNvPr>
          <p:cNvSpPr txBox="1"/>
          <p:nvPr/>
        </p:nvSpPr>
        <p:spPr>
          <a:xfrm>
            <a:off x="6096000" y="4399128"/>
            <a:ext cx="877163" cy="369332"/>
          </a:xfrm>
          <a:prstGeom prst="rect">
            <a:avLst/>
          </a:prstGeom>
          <a:noFill/>
        </p:spPr>
        <p:txBody>
          <a:bodyPr wrap="none" rtlCol="0">
            <a:spAutoFit/>
          </a:bodyPr>
          <a:lstStyle/>
          <a:p>
            <a:r>
              <a:rPr lang="en-US" dirty="0"/>
              <a:t>jpwoly</a:t>
            </a:r>
          </a:p>
        </p:txBody>
      </p:sp>
      <p:sp>
        <p:nvSpPr>
          <p:cNvPr id="11" name="Arrow: Right 10">
            <a:extLst>
              <a:ext uri="{FF2B5EF4-FFF2-40B4-BE49-F238E27FC236}">
                <a16:creationId xmlns:a16="http://schemas.microsoft.com/office/drawing/2014/main" id="{F6998873-FE5F-7852-DB36-76289092F11B}"/>
              </a:ext>
            </a:extLst>
          </p:cNvPr>
          <p:cNvSpPr/>
          <p:nvPr/>
        </p:nvSpPr>
        <p:spPr>
          <a:xfrm>
            <a:off x="7246467" y="4341478"/>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A72A1F1-8575-1995-AC50-60E1EA3977EB}"/>
              </a:ext>
            </a:extLst>
          </p:cNvPr>
          <p:cNvSpPr txBox="1"/>
          <p:nvPr/>
        </p:nvSpPr>
        <p:spPr>
          <a:xfrm>
            <a:off x="8602373" y="4399128"/>
            <a:ext cx="851515" cy="369332"/>
          </a:xfrm>
          <a:prstGeom prst="rect">
            <a:avLst/>
          </a:prstGeom>
          <a:noFill/>
        </p:spPr>
        <p:txBody>
          <a:bodyPr wrap="none" rtlCol="0">
            <a:spAutoFit/>
          </a:bodyPr>
          <a:lstStyle/>
          <a:p>
            <a:r>
              <a:rPr lang="en-US" dirty="0"/>
              <a:t>cipher</a:t>
            </a:r>
          </a:p>
        </p:txBody>
      </p:sp>
      <p:sp>
        <p:nvSpPr>
          <p:cNvPr id="14" name="TextBox 13">
            <a:extLst>
              <a:ext uri="{FF2B5EF4-FFF2-40B4-BE49-F238E27FC236}">
                <a16:creationId xmlns:a16="http://schemas.microsoft.com/office/drawing/2014/main" id="{CAE1FE40-CEE1-D4D1-3A1B-B67517C92156}"/>
              </a:ext>
            </a:extLst>
          </p:cNvPr>
          <p:cNvSpPr txBox="1"/>
          <p:nvPr/>
        </p:nvSpPr>
        <p:spPr>
          <a:xfrm>
            <a:off x="6240271" y="5411926"/>
            <a:ext cx="628698" cy="369332"/>
          </a:xfrm>
          <a:prstGeom prst="rect">
            <a:avLst/>
          </a:prstGeom>
          <a:noFill/>
        </p:spPr>
        <p:txBody>
          <a:bodyPr wrap="none" rtlCol="0">
            <a:spAutoFit/>
          </a:bodyPr>
          <a:lstStyle/>
          <a:p>
            <a:r>
              <a:rPr lang="en-US" dirty="0"/>
              <a:t>alea</a:t>
            </a:r>
          </a:p>
        </p:txBody>
      </p:sp>
      <p:sp>
        <p:nvSpPr>
          <p:cNvPr id="15" name="Arrow: Right 14">
            <a:extLst>
              <a:ext uri="{FF2B5EF4-FFF2-40B4-BE49-F238E27FC236}">
                <a16:creationId xmlns:a16="http://schemas.microsoft.com/office/drawing/2014/main" id="{7111C888-CCDF-1660-D95D-7F915BF75DAB}"/>
              </a:ext>
            </a:extLst>
          </p:cNvPr>
          <p:cNvSpPr/>
          <p:nvPr/>
        </p:nvSpPr>
        <p:spPr>
          <a:xfrm>
            <a:off x="7246467" y="5352635"/>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35A34E5-405E-3836-B4DB-3739C5A22280}"/>
              </a:ext>
            </a:extLst>
          </p:cNvPr>
          <p:cNvSpPr txBox="1"/>
          <p:nvPr/>
        </p:nvSpPr>
        <p:spPr>
          <a:xfrm>
            <a:off x="8667118" y="5411926"/>
            <a:ext cx="603050" cy="369332"/>
          </a:xfrm>
          <a:prstGeom prst="rect">
            <a:avLst/>
          </a:prstGeom>
          <a:noFill/>
        </p:spPr>
        <p:txBody>
          <a:bodyPr wrap="none" rtlCol="0">
            <a:spAutoFit/>
          </a:bodyPr>
          <a:lstStyle/>
          <a:p>
            <a:r>
              <a:rPr lang="en-US" dirty="0"/>
              <a:t>text</a:t>
            </a:r>
          </a:p>
        </p:txBody>
      </p:sp>
      <p:sp>
        <p:nvSpPr>
          <p:cNvPr id="17" name="TextBox 16">
            <a:extLst>
              <a:ext uri="{FF2B5EF4-FFF2-40B4-BE49-F238E27FC236}">
                <a16:creationId xmlns:a16="http://schemas.microsoft.com/office/drawing/2014/main" id="{4BD07E0C-BFC1-4CED-E846-DB71267A9446}"/>
              </a:ext>
            </a:extLst>
          </p:cNvPr>
          <p:cNvSpPr txBox="1"/>
          <p:nvPr/>
        </p:nvSpPr>
        <p:spPr>
          <a:xfrm>
            <a:off x="7254987" y="6003548"/>
            <a:ext cx="837089" cy="369332"/>
          </a:xfrm>
          <a:prstGeom prst="rect">
            <a:avLst/>
          </a:prstGeom>
          <a:noFill/>
        </p:spPr>
        <p:txBody>
          <a:bodyPr wrap="none" rtlCol="0">
            <a:spAutoFit/>
          </a:bodyPr>
          <a:lstStyle/>
          <a:p>
            <a:r>
              <a:rPr lang="en-US" dirty="0"/>
              <a:t>K = -7</a:t>
            </a:r>
          </a:p>
        </p:txBody>
      </p:sp>
    </p:spTree>
    <p:extLst>
      <p:ext uri="{BB962C8B-B14F-4D97-AF65-F5344CB8AC3E}">
        <p14:creationId xmlns:p14="http://schemas.microsoft.com/office/powerpoint/2010/main" val="944761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0C3F4-3517-D224-0005-19240587AEBE}"/>
              </a:ext>
            </a:extLst>
          </p:cNvPr>
          <p:cNvSpPr>
            <a:spLocks noGrp="1"/>
          </p:cNvSpPr>
          <p:nvPr>
            <p:ph type="title"/>
          </p:nvPr>
        </p:nvSpPr>
        <p:spPr>
          <a:xfrm>
            <a:off x="1249680" y="-68415"/>
            <a:ext cx="9692640" cy="1325562"/>
          </a:xfrm>
        </p:spPr>
        <p:txBody>
          <a:bodyPr/>
          <a:lstStyle/>
          <a:p>
            <a:r>
              <a:rPr lang="en-US" dirty="0"/>
              <a:t>Workflow of our Project</a:t>
            </a:r>
          </a:p>
        </p:txBody>
      </p:sp>
      <p:graphicFrame>
        <p:nvGraphicFramePr>
          <p:cNvPr id="5" name="Content Placeholder 4">
            <a:extLst>
              <a:ext uri="{FF2B5EF4-FFF2-40B4-BE49-F238E27FC236}">
                <a16:creationId xmlns:a16="http://schemas.microsoft.com/office/drawing/2014/main" id="{214CBB39-D787-E68F-7036-FB93A73177FC}"/>
              </a:ext>
            </a:extLst>
          </p:cNvPr>
          <p:cNvGraphicFramePr>
            <a:graphicFrameLocks noGrp="1"/>
          </p:cNvGraphicFramePr>
          <p:nvPr>
            <p:ph idx="1"/>
            <p:extLst>
              <p:ext uri="{D42A27DB-BD31-4B8C-83A1-F6EECF244321}">
                <p14:modId xmlns:p14="http://schemas.microsoft.com/office/powerpoint/2010/main" val="4208119523"/>
              </p:ext>
            </p:extLst>
          </p:nvPr>
        </p:nvGraphicFramePr>
        <p:xfrm>
          <a:off x="1697232" y="1569095"/>
          <a:ext cx="7389881" cy="48711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Arrow: Curved Left 5">
            <a:extLst>
              <a:ext uri="{FF2B5EF4-FFF2-40B4-BE49-F238E27FC236}">
                <a16:creationId xmlns:a16="http://schemas.microsoft.com/office/drawing/2014/main" id="{5BEFA3F7-458B-0C98-80C8-723A337F0AF4}"/>
              </a:ext>
            </a:extLst>
          </p:cNvPr>
          <p:cNvSpPr/>
          <p:nvPr/>
        </p:nvSpPr>
        <p:spPr>
          <a:xfrm rot="10800000">
            <a:off x="965712" y="1947211"/>
            <a:ext cx="731520" cy="1216152"/>
          </a:xfrm>
          <a:prstGeom prst="curvedLeftArrow">
            <a:avLst/>
          </a:prstGeom>
          <a:solidFill>
            <a:srgbClr val="6F6F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484545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D8B8F-92D0-FE62-2A06-0D9F53C79FE5}"/>
              </a:ext>
            </a:extLst>
          </p:cNvPr>
          <p:cNvSpPr>
            <a:spLocks noGrp="1"/>
          </p:cNvSpPr>
          <p:nvPr>
            <p:ph type="title"/>
          </p:nvPr>
        </p:nvSpPr>
        <p:spPr>
          <a:xfrm>
            <a:off x="1261872" y="15082"/>
            <a:ext cx="7401904" cy="1325562"/>
          </a:xfrm>
        </p:spPr>
        <p:txBody>
          <a:bodyPr/>
          <a:lstStyle/>
          <a:p>
            <a:r>
              <a:rPr lang="en-US" dirty="0"/>
              <a:t>Pros &amp; Cons of this Method</a:t>
            </a:r>
          </a:p>
        </p:txBody>
      </p:sp>
      <p:sp>
        <p:nvSpPr>
          <p:cNvPr id="18" name="Content Placeholder 17">
            <a:extLst>
              <a:ext uri="{FF2B5EF4-FFF2-40B4-BE49-F238E27FC236}">
                <a16:creationId xmlns:a16="http://schemas.microsoft.com/office/drawing/2014/main" id="{8047E11A-8CDE-71FE-8AC4-4124A0F5A239}"/>
              </a:ext>
            </a:extLst>
          </p:cNvPr>
          <p:cNvSpPr>
            <a:spLocks noGrp="1"/>
          </p:cNvSpPr>
          <p:nvPr>
            <p:ph idx="1"/>
          </p:nvPr>
        </p:nvSpPr>
        <p:spPr>
          <a:xfrm>
            <a:off x="768491" y="1595266"/>
            <a:ext cx="9375428" cy="5262734"/>
          </a:xfrm>
        </p:spPr>
        <p:txBody>
          <a:bodyPr>
            <a:normAutofit fontScale="40000" lnSpcReduction="20000"/>
          </a:bodyPr>
          <a:lstStyle/>
          <a:p>
            <a:pPr marL="0" indent="0">
              <a:buNone/>
            </a:pPr>
            <a:r>
              <a:rPr lang="en-US" sz="3800" b="1" dirty="0"/>
              <a:t>Pros: </a:t>
            </a:r>
          </a:p>
          <a:p>
            <a:r>
              <a:rPr lang="en-US" sz="3800" b="1" dirty="0"/>
              <a:t>Balanced accuracy</a:t>
            </a:r>
            <a:r>
              <a:rPr lang="en-US" sz="3800" dirty="0"/>
              <a:t>: Three words greatly reduce false positives compared to checking only one or two.</a:t>
            </a:r>
          </a:p>
          <a:p>
            <a:r>
              <a:rPr lang="en-US" sz="3800" b="1" dirty="0"/>
              <a:t>Fast performance</a:t>
            </a:r>
            <a:r>
              <a:rPr lang="en-US" sz="3800" dirty="0"/>
              <a:t>: Only a small part of the text is processed, keeping the method efficient.</a:t>
            </a:r>
          </a:p>
          <a:p>
            <a:r>
              <a:rPr lang="en-US" sz="3800" b="1" dirty="0"/>
              <a:t>Constant-time lookups</a:t>
            </a:r>
            <a:r>
              <a:rPr lang="en-US" sz="3800" dirty="0"/>
              <a:t>: Dictionary stored in a set gives </a:t>
            </a:r>
            <a:r>
              <a:rPr lang="en-US" sz="3800" b="1" dirty="0"/>
              <a:t>O(1)</a:t>
            </a:r>
            <a:r>
              <a:rPr lang="en-US" sz="3800" dirty="0"/>
              <a:t> average-time checks.</a:t>
            </a:r>
          </a:p>
          <a:p>
            <a:r>
              <a:rPr lang="en-US" sz="3800" b="1" dirty="0"/>
              <a:t>Good enough for most texts</a:t>
            </a:r>
            <a:r>
              <a:rPr lang="en-US" sz="3800" dirty="0"/>
              <a:t>: Most English sentences start with valid, dictionary-friendly words.</a:t>
            </a:r>
          </a:p>
          <a:p>
            <a:r>
              <a:rPr lang="en-US" sz="3800" b="1" dirty="0"/>
              <a:t>Simple and reliable</a:t>
            </a:r>
            <a:r>
              <a:rPr lang="en-US" sz="3800" dirty="0"/>
              <a:t>: Easy to implement and consistently finds the correct shift.</a:t>
            </a:r>
          </a:p>
          <a:p>
            <a:pPr marL="0" indent="0">
              <a:buNone/>
            </a:pPr>
            <a:r>
              <a:rPr lang="en-US" sz="3800" b="1" dirty="0"/>
              <a:t>Cons:</a:t>
            </a:r>
          </a:p>
          <a:p>
            <a:r>
              <a:rPr lang="en-US" sz="3800" b="1" dirty="0"/>
              <a:t>Relies heavily on the first three words</a:t>
            </a:r>
            <a:r>
              <a:rPr lang="en-US" sz="3800" dirty="0"/>
              <a:t>: If they are unusual, names, or not in the dictionary, the method may fail.</a:t>
            </a:r>
          </a:p>
          <a:p>
            <a:r>
              <a:rPr lang="en-US" sz="3800" b="1" dirty="0"/>
              <a:t>Doesn’t check the rest of the text</a:t>
            </a:r>
            <a:r>
              <a:rPr lang="en-US" sz="3800" dirty="0"/>
              <a:t>: Rare edge cases might still slip through if the first three words accidentally form valid words after the wrong shift.</a:t>
            </a:r>
          </a:p>
          <a:p>
            <a:r>
              <a:rPr lang="en-US" sz="3800" b="1" dirty="0"/>
              <a:t>Not suitable for very short messages</a:t>
            </a:r>
            <a:r>
              <a:rPr lang="en-US" sz="3800" dirty="0"/>
              <a:t>: Fails when fewer than three real words exist.</a:t>
            </a:r>
          </a:p>
          <a:p>
            <a:r>
              <a:rPr lang="en-US" sz="3800" b="1" dirty="0"/>
              <a:t>Language-dependent</a:t>
            </a:r>
            <a:r>
              <a:rPr lang="en-US" sz="3800" dirty="0"/>
              <a:t>: Only works well if the text is in English and matches the loaded dictionaries.</a:t>
            </a:r>
          </a:p>
          <a:p>
            <a:endParaRPr lang="en-US" dirty="0"/>
          </a:p>
        </p:txBody>
      </p:sp>
    </p:spTree>
    <p:extLst>
      <p:ext uri="{BB962C8B-B14F-4D97-AF65-F5344CB8AC3E}">
        <p14:creationId xmlns:p14="http://schemas.microsoft.com/office/powerpoint/2010/main" val="1507944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89683EB-D202-4B4D-B1BD-8BA6965FBE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292840"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nalog board showing flight information">
            <a:extLst>
              <a:ext uri="{FF2B5EF4-FFF2-40B4-BE49-F238E27FC236}">
                <a16:creationId xmlns:a16="http://schemas.microsoft.com/office/drawing/2014/main" id="{C857B786-9FB5-A902-2E03-3A0C942724B9}"/>
              </a:ext>
            </a:extLst>
          </p:cNvPr>
          <p:cNvPicPr>
            <a:picLocks noChangeAspect="1"/>
          </p:cNvPicPr>
          <p:nvPr/>
        </p:nvPicPr>
        <p:blipFill>
          <a:blip r:embed="rId2">
            <a:alphaModFix amt="35000"/>
          </a:blip>
          <a:srcRect t="9021"/>
          <a:stretch>
            <a:fillRect/>
          </a:stretch>
        </p:blipFill>
        <p:spPr>
          <a:xfrm>
            <a:off x="20" y="-1"/>
            <a:ext cx="11292820" cy="6857990"/>
          </a:xfrm>
          <a:prstGeom prst="rect">
            <a:avLst/>
          </a:prstGeom>
        </p:spPr>
      </p:pic>
      <p:sp>
        <p:nvSpPr>
          <p:cNvPr id="2" name="Title 1">
            <a:extLst>
              <a:ext uri="{FF2B5EF4-FFF2-40B4-BE49-F238E27FC236}">
                <a16:creationId xmlns:a16="http://schemas.microsoft.com/office/drawing/2014/main" id="{243C7165-2466-F0F2-F007-461A93CF3B01}"/>
              </a:ext>
            </a:extLst>
          </p:cNvPr>
          <p:cNvSpPr>
            <a:spLocks noGrp="1"/>
          </p:cNvSpPr>
          <p:nvPr>
            <p:ph type="title"/>
          </p:nvPr>
        </p:nvSpPr>
        <p:spPr>
          <a:xfrm>
            <a:off x="1261872" y="365760"/>
            <a:ext cx="9692640" cy="1325562"/>
          </a:xfrm>
        </p:spPr>
        <p:txBody>
          <a:bodyPr>
            <a:normAutofit/>
          </a:bodyPr>
          <a:lstStyle/>
          <a:p>
            <a:r>
              <a:rPr lang="en-US">
                <a:solidFill>
                  <a:schemeClr val="bg1"/>
                </a:solidFill>
              </a:rPr>
              <a:t>Conclusion</a:t>
            </a:r>
          </a:p>
        </p:txBody>
      </p:sp>
      <p:sp>
        <p:nvSpPr>
          <p:cNvPr id="3" name="Content Placeholder 2">
            <a:extLst>
              <a:ext uri="{FF2B5EF4-FFF2-40B4-BE49-F238E27FC236}">
                <a16:creationId xmlns:a16="http://schemas.microsoft.com/office/drawing/2014/main" id="{049EDC72-6267-DE70-5314-B64E8333DAFD}"/>
              </a:ext>
            </a:extLst>
          </p:cNvPr>
          <p:cNvSpPr>
            <a:spLocks noGrp="1"/>
          </p:cNvSpPr>
          <p:nvPr>
            <p:ph idx="1"/>
          </p:nvPr>
        </p:nvSpPr>
        <p:spPr>
          <a:xfrm>
            <a:off x="1261872" y="2005739"/>
            <a:ext cx="8595360" cy="4174398"/>
          </a:xfrm>
        </p:spPr>
        <p:txBody>
          <a:bodyPr>
            <a:normAutofit/>
          </a:bodyPr>
          <a:lstStyle/>
          <a:p>
            <a:pPr marL="0" indent="0">
              <a:buNone/>
            </a:pPr>
            <a:r>
              <a:rPr lang="en-US" sz="2000" dirty="0">
                <a:solidFill>
                  <a:schemeClr val="bg1"/>
                </a:solidFill>
              </a:rPr>
              <a:t>This method is efficient because checking the first three words balances accuracy and speed. A </a:t>
            </a:r>
            <a:r>
              <a:rPr lang="en-US" sz="2000" b="1" dirty="0">
                <a:solidFill>
                  <a:schemeClr val="bg1"/>
                </a:solidFill>
              </a:rPr>
              <a:t>set</a:t>
            </a:r>
            <a:r>
              <a:rPr lang="en-US" sz="2000" dirty="0">
                <a:solidFill>
                  <a:schemeClr val="bg1"/>
                </a:solidFill>
              </a:rPr>
              <a:t> is used to store dictionary words, giving </a:t>
            </a:r>
            <a:r>
              <a:rPr lang="en-US" sz="2000" b="1" dirty="0">
                <a:solidFill>
                  <a:schemeClr val="bg1"/>
                </a:solidFill>
              </a:rPr>
              <a:t>O(1) average-time lookups</a:t>
            </a:r>
            <a:r>
              <a:rPr lang="en-US" sz="2000" dirty="0">
                <a:solidFill>
                  <a:schemeClr val="bg1"/>
                </a:solidFill>
              </a:rPr>
              <a:t>, so checking each shifted word is very fast. Using only one or two words risks false matches, while using more would slow the program without adding meaningful accuracy. With three words, the program reliably finds the correct key automatically.</a:t>
            </a:r>
          </a:p>
        </p:txBody>
      </p:sp>
      <p:sp>
        <p:nvSpPr>
          <p:cNvPr id="4" name="TextBox 3">
            <a:extLst>
              <a:ext uri="{FF2B5EF4-FFF2-40B4-BE49-F238E27FC236}">
                <a16:creationId xmlns:a16="http://schemas.microsoft.com/office/drawing/2014/main" id="{33D69462-E092-3CD0-684E-6B851D404F76}"/>
              </a:ext>
            </a:extLst>
          </p:cNvPr>
          <p:cNvSpPr txBox="1"/>
          <p:nvPr/>
        </p:nvSpPr>
        <p:spPr>
          <a:xfrm>
            <a:off x="1261872" y="5085117"/>
            <a:ext cx="2044149" cy="369332"/>
          </a:xfrm>
          <a:prstGeom prst="rect">
            <a:avLst/>
          </a:prstGeom>
          <a:noFill/>
        </p:spPr>
        <p:txBody>
          <a:bodyPr wrap="none" rtlCol="0">
            <a:spAutoFit/>
          </a:bodyPr>
          <a:lstStyle/>
          <a:p>
            <a:r>
              <a:rPr lang="en-US" dirty="0">
                <a:solidFill>
                  <a:schemeClr val="bg1"/>
                </a:solidFill>
              </a:rPr>
              <a:t>Word Document: </a:t>
            </a:r>
          </a:p>
        </p:txBody>
      </p:sp>
    </p:spTree>
    <p:extLst>
      <p:ext uri="{BB962C8B-B14F-4D97-AF65-F5344CB8AC3E}">
        <p14:creationId xmlns:p14="http://schemas.microsoft.com/office/powerpoint/2010/main" val="1377212352"/>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TM03457515[[fn=View]]</Template>
  <TotalTime>91</TotalTime>
  <Words>502</Words>
  <Application>Microsoft Office PowerPoint</Application>
  <PresentationFormat>Widescreen</PresentationFormat>
  <Paragraphs>38</Paragraphs>
  <Slides>6</Slides>
  <Notes>1</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View</vt:lpstr>
      <vt:lpstr>Caeser Cipher CS 285</vt:lpstr>
      <vt:lpstr>What is a Caeser Cipher?</vt:lpstr>
      <vt:lpstr>Decryption Method used</vt:lpstr>
      <vt:lpstr>Workflow of our Project</vt:lpstr>
      <vt:lpstr>Pros &amp; Cons of this Method</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Caeser Cipher CS 285</dc:title>
  <dc:creator>yazan zahid</dc:creator>
  <cp:lastModifiedBy>S M</cp:lastModifiedBy>
  <cp:revision>3</cp:revision>
  <dcterms:created xsi:type="dcterms:W3CDTF">2025-11-14T13:58:53Z</dcterms:created>
  <dcterms:modified xsi:type="dcterms:W3CDTF">2025-11-22T18:58:39Z</dcterms:modified>
</cp:coreProperties>
</file>